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 pitchFamily="2" charset="0"/>
      <p:regular r:id="rId13"/>
    </p:embeddedFont>
    <p:embeddedFont>
      <p:font typeface="Inter Black" panose="02000503000000020004" pitchFamily="2" charset="0"/>
      <p:regular r:id="rId14"/>
    </p:embeddedFont>
    <p:embeddedFont>
      <p:font typeface="Inter Bold" panose="02000503000000020004" pitchFamily="2" charset="0"/>
      <p:regular r:id="rId15"/>
    </p:embeddedFont>
    <p:embeddedFont>
      <p:font typeface="Inter ExtraBold" panose="02000503000000020004" pitchFamily="2" charset="0"/>
      <p:regular r:id="rId16"/>
    </p:embeddedFont>
    <p:embeddedFont>
      <p:font typeface="Inter ExtraLight" panose="02000503000000020004" pitchFamily="2" charset="0"/>
      <p:regular r:id="rId17"/>
    </p:embeddedFont>
    <p:embeddedFont>
      <p:font typeface="Inter Light" panose="02000503000000020004" pitchFamily="2" charset="0"/>
      <p:regular r:id="rId18"/>
    </p:embeddedFont>
    <p:embeddedFont>
      <p:font typeface="Inter Medium" panose="02000503000000020004" pitchFamily="2" charset="0"/>
      <p:regular r:id="rId19"/>
    </p:embeddedFont>
    <p:embeddedFont>
      <p:font typeface="Inter SemiBold" panose="02000503000000020004" pitchFamily="2" charset="0"/>
      <p:regular r:id="rId20"/>
    </p:embeddedFont>
    <p:embeddedFont>
      <p:font typeface="Inter Thin" panose="02000503000000020004" pitchFamily="2" charset="0"/>
      <p:regular r:id="rId21"/>
    </p:embeddedFont>
    <p:embeddedFont>
      <p:font typeface="Manrope" pitchFamily="2" charset="0"/>
      <p:regular r:id="rId22"/>
    </p:embeddedFont>
    <p:embeddedFont>
      <p:font typeface="Manrope Bold" pitchFamily="2" charset="0"/>
      <p:regular r:id="rId23"/>
    </p:embeddedFont>
    <p:embeddedFont>
      <p:font typeface="Manrope ExtraBold" pitchFamily="2" charset="0"/>
      <p:regular r:id="rId24"/>
    </p:embeddedFont>
    <p:embeddedFont>
      <p:font typeface="Manrope ExtraLight" pitchFamily="2" charset="0"/>
      <p:regular r:id="rId25"/>
    </p:embeddedFont>
    <p:embeddedFont>
      <p:font typeface="Manrope Light" pitchFamily="2" charset="0"/>
      <p:regular r:id="rId26"/>
    </p:embeddedFont>
    <p:embeddedFont>
      <p:font typeface="Manrope Medium" pitchFamily="2" charset="0"/>
      <p:regular r:id="rId27"/>
    </p:embeddedFont>
    <p:embeddedFont>
      <p:font typeface="Manrope SemiBold" pitchFamily="2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font" Target="fonts/font14.fntdata" /><Relationship Id="rId3" Type="http://schemas.openxmlformats.org/officeDocument/2006/relationships/slide" Target="slides/slide2.xml" /><Relationship Id="rId21" Type="http://schemas.openxmlformats.org/officeDocument/2006/relationships/font" Target="fonts/font9.fntdata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5" Type="http://schemas.openxmlformats.org/officeDocument/2006/relationships/font" Target="fonts/font13.fntdata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2.fntdata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font" Target="fonts/font11.fntdata" /><Relationship Id="rId28" Type="http://schemas.openxmlformats.org/officeDocument/2006/relationships/font" Target="fonts/font16.fntdata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schemas.openxmlformats.org/officeDocument/2006/relationships/font" Target="fonts/font10.fntdata" /><Relationship Id="rId27" Type="http://schemas.openxmlformats.org/officeDocument/2006/relationships/font" Target="fonts/font15.fntdata" /><Relationship Id="rId30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206A2-58E1-B542-82BE-76A47B29539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81FA2-28CD-9948-ABF0-2EFB3A752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3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0.svg" /><Relationship Id="rId5" Type="http://schemas.openxmlformats.org/officeDocument/2006/relationships/image" Target="../media/image9.svg" /><Relationship Id="rId4" Type="http://schemas.openxmlformats.org/officeDocument/2006/relationships/image" Target="../media/image8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9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House Price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Leveraging </a:t>
            </a: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Property Features, Location Intelligence, and Regression Models</a:t>
            </a: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deliver accurate, data-driven residential property valuations for buyers, sellers, and real estate professionals.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212131" cy="215354"/>
          </a:xfrm>
          <a:prstGeom prst="roundRect">
            <a:avLst>
              <a:gd name="adj" fmla="val 47398"/>
            </a:avLst>
          </a:prstGeom>
          <a:solidFill>
            <a:srgbClr val="FFD7C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4992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79091" y="3433316"/>
            <a:ext cx="1452042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64147" y="3475806"/>
            <a:ext cx="17391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ESTATE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1975" y="3433316"/>
            <a:ext cx="1474068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7030" y="3475806"/>
            <a:ext cx="17611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LOCATION INTELLIGENCE</a:t>
            </a:r>
            <a:endParaRPr lang="en-US" sz="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9FCFEC-02E5-D018-7BB2-5225F5837A34}"/>
              </a:ext>
            </a:extLst>
          </p:cNvPr>
          <p:cNvSpPr txBox="1"/>
          <p:nvPr/>
        </p:nvSpPr>
        <p:spPr>
          <a:xfrm>
            <a:off x="446792" y="3878513"/>
            <a:ext cx="457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/>
              <a:t>.JHANSI</a:t>
            </a:r>
          </a:p>
          <a:p>
            <a:r>
              <a:rPr lang="en-US"/>
              <a:t>323129510068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 Problem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06737"/>
            <a:ext cx="269155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Residential property valuation remains </a:t>
            </a:r>
            <a:r>
              <a:rPr lang="en-US" sz="8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highly manual, subjective, and inconsistent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Multiple interdependent factors make accurate pricing a persistent challenge for all market participants.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Assessments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Appraisals rely on expert opinion, introducing bias and variability.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Volatility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 fluctuations render static valuations quickly outdated.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Multi-Factor Complexity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Location, size, amenities, and infrastructure interact in non-linear ways.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 vs. Proposed Solution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New Approach?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methods cannot scale to meet modern real estate demands. Our proposed system replaces guesswork with </a:t>
            </a: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predictive intelligence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analyzing thousands of historical transactions, property attributes, and geographic signals to estimate market value with statistical rigor.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23389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2895154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is designed to assist — not replace — professional judgment, providing a reliable data-backed starting point for every valuation.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Objectives &amp; 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Valuation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 property prices using trained regression models with measurable error metrics.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Intelligence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Incorporate geographic factors — proximity to amenities, schools, and transit — into pricing.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Trend Analysis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Visualize historical price trends and comparative market analysis for informed decisions.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Multi-Role Access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 Buyers, Sellers, Agents, and Administrators with tailored dashboards and tools.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38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Roles &amp; System Access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20391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3577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42283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properties, view predicted prices, compare listings, and access market trend reports.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20391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42283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List properties, receive ML-based price estimates, and track listing performance.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20391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Estate Agent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42283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 multiple listings, generate client reports, and access comparative market analysis.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820391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42283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 users, monitor system health, oversee ML model retraining, and configure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 &amp; Machine Learning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end-to-end pipeline transforms raw, heterogeneous real estate data into reliable price predictions — with each stage validated for data quality and model accuracy before production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14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Models &amp; Performance Metrics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61430"/>
            <a:ext cx="3943499" cy="2838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45" y="951012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09145" y="1203573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performance is measured across four key indicators to ensure prediction reliability: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09145" y="1603623"/>
            <a:ext cx="3943499" cy="510332"/>
          </a:xfrm>
          <a:prstGeom prst="roundRect">
            <a:avLst>
              <a:gd name="adj" fmla="val 19142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641" y="1758553"/>
            <a:ext cx="135657" cy="108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61793" y="1705496"/>
            <a:ext cx="34823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XGBoost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consistently outperforms other models, achieving the highest R² score on test data.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96119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9377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9377" y="4319513"/>
            <a:ext cx="24353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Absolute Error — average prediction deviation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41030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54288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54288" y="4319513"/>
            <a:ext cx="24353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Root Mean Squared Error — penalizes large errors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985942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9200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99200" y="4319513"/>
            <a:ext cx="243534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Variance explained — model fit quality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Data Flow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46824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14389"/>
            <a:ext cx="3989412" cy="31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Presentation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React.js web interface with responsive dashboards for all user roles.</a:t>
            </a:r>
            <a:endParaRPr lang="en-US" sz="550" dirty="0"/>
          </a:p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Application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Python Flask/FastAPI backend hosting ML models, business logic, and REST APIs.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Data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PostgreSQL for structured data, Redis for caching, and GeoServer for spatial queries.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775485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4773290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DFD Level 0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26430" y="4905226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→ System → Prediction Output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4775485"/>
            <a:ext cx="106263" cy="106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24413" y="4773290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DFD Level 1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824413" y="4905226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validation → Feature extraction → Model inference → Report generation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&amp; Security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1811610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Technologies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1013" y="2000101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Features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61013" y="2232571"/>
            <a:ext cx="2691557" cy="7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JWT-based authentication with role-based access control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TLS encryption for data in transit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validation and SQL injection prevention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logging for all administrative actions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4028182"/>
            <a:ext cx="1982986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279" y="4144342"/>
            <a:ext cx="175066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279" y="4347493"/>
            <a:ext cx="175066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Python, Flask/FastAPI, Scikit-learn, XGBoost, Pandas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52328" y="4028182"/>
            <a:ext cx="1983060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8488" y="4144342"/>
            <a:ext cx="175074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68488" y="4347493"/>
            <a:ext cx="175074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React.js, Chart.js, Leaflet.js (maps)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08612" y="4028182"/>
            <a:ext cx="1982986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4772" y="4144342"/>
            <a:ext cx="175066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24772" y="4347493"/>
            <a:ext cx="175066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PostgreSQL, PostGIS, Redis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664821" y="4028182"/>
            <a:ext cx="1983060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0981" y="4144342"/>
            <a:ext cx="175074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DevOps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80981" y="4347493"/>
            <a:ext cx="175074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AWS/GCP, Docker, CI/CD Pipelines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304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Advantages, Applications &amp; Future Roadmap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3925119" y="1215405"/>
            <a:ext cx="2321496" cy="156143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36144" y="1326431"/>
            <a:ext cx="20994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036144" y="1540297"/>
            <a:ext cx="2099444" cy="1125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Reduced dependence on manual appraisals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pricing accuracy and transparency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Scalable across cities and property types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market trend visibility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326312" y="1215405"/>
            <a:ext cx="2321570" cy="156143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37" y="1326431"/>
            <a:ext cx="209951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37337" y="1540297"/>
            <a:ext cx="2099518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Residential property portals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mortgage and loan assessment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Government land valuation systems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estate investment analysis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25119" y="2856533"/>
            <a:ext cx="4722763" cy="1114946"/>
          </a:xfrm>
          <a:prstGeom prst="roundRect">
            <a:avLst>
              <a:gd name="adj" fmla="val 85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36144" y="2967558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36144" y="3181424"/>
            <a:ext cx="4500711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 with CNN for image-based features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API integration with listing platforms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application with AR property view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Predictive analytics for investment forecasting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25119" y="4061147"/>
            <a:ext cx="4722763" cy="651049"/>
          </a:xfrm>
          <a:prstGeom prst="roundRect">
            <a:avLst>
              <a:gd name="adj" fmla="val 14698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382" y="4205734"/>
            <a:ext cx="132904" cy="1062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70549" y="4167411"/>
            <a:ext cx="4271070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Expected Outcome: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production-ready, ML-powered valuation system that empowers stakeholders with accurate, transparent, and actionable property price insights — transforming how real estate decisions are made.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Narapinni Lalitha</cp:lastModifiedBy>
  <cp:revision>2</cp:revision>
  <dcterms:created xsi:type="dcterms:W3CDTF">2026-07-28T05:35:18Z</dcterms:created>
  <dcterms:modified xsi:type="dcterms:W3CDTF">2026-09-29T08:49:24Z</dcterms:modified>
</cp:coreProperties>
</file>